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81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9" r:id="rId20"/>
    <p:sldId id="273" r:id="rId21"/>
    <p:sldId id="274" r:id="rId22"/>
    <p:sldId id="280" r:id="rId23"/>
    <p:sldId id="275" r:id="rId24"/>
    <p:sldId id="276" r:id="rId25"/>
    <p:sldId id="277" r:id="rId26"/>
    <p:sldId id="278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4FCC61-6892-4258-99BA-F6453B18CD45}" v="27" dt="2026-05-27T15:42:13.5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tika Aggarwal" userId="33cf9f8942a662cb" providerId="LiveId" clId="{D97EE72D-0B94-440F-A5EC-0744150ACDB4}"/>
    <pc:docChg chg="undo custSel addSld modSld sldOrd">
      <pc:chgData name="Kritika Aggarwal" userId="33cf9f8942a662cb" providerId="LiveId" clId="{D97EE72D-0B94-440F-A5EC-0744150ACDB4}" dt="2026-05-27T15:46:27.066" v="432" actId="21"/>
      <pc:docMkLst>
        <pc:docMk/>
      </pc:docMkLst>
      <pc:sldChg chg="modSp mod">
        <pc:chgData name="Kritika Aggarwal" userId="33cf9f8942a662cb" providerId="LiveId" clId="{D97EE72D-0B94-440F-A5EC-0744150ACDB4}" dt="2026-05-27T15:46:27.066" v="432" actId="21"/>
        <pc:sldMkLst>
          <pc:docMk/>
          <pc:sldMk cId="234980824" sldId="256"/>
        </pc:sldMkLst>
        <pc:spChg chg="mod">
          <ac:chgData name="Kritika Aggarwal" userId="33cf9f8942a662cb" providerId="LiveId" clId="{D97EE72D-0B94-440F-A5EC-0744150ACDB4}" dt="2026-05-27T15:46:27.066" v="432" actId="21"/>
          <ac:spMkLst>
            <pc:docMk/>
            <pc:sldMk cId="234980824" sldId="256"/>
            <ac:spMk id="2" creationId="{E3240AE0-C789-3F7B-CF44-A95987D182C0}"/>
          </ac:spMkLst>
        </pc:spChg>
        <pc:picChg chg="mod">
          <ac:chgData name="Kritika Aggarwal" userId="33cf9f8942a662cb" providerId="LiveId" clId="{D97EE72D-0B94-440F-A5EC-0744150ACDB4}" dt="2026-05-27T14:15:32.415" v="60" actId="1076"/>
          <ac:picMkLst>
            <pc:docMk/>
            <pc:sldMk cId="234980824" sldId="256"/>
            <ac:picMk id="5" creationId="{4F54440C-9188-4E52-84B5-477F27C9D311}"/>
          </ac:picMkLst>
        </pc:picChg>
      </pc:sldChg>
      <pc:sldChg chg="ord">
        <pc:chgData name="Kritika Aggarwal" userId="33cf9f8942a662cb" providerId="LiveId" clId="{D97EE72D-0B94-440F-A5EC-0744150ACDB4}" dt="2026-05-27T14:30:35.881" v="108"/>
        <pc:sldMkLst>
          <pc:docMk/>
          <pc:sldMk cId="1210383577" sldId="259"/>
        </pc:sldMkLst>
      </pc:sldChg>
      <pc:sldChg chg="ord">
        <pc:chgData name="Kritika Aggarwal" userId="33cf9f8942a662cb" providerId="LiveId" clId="{D97EE72D-0B94-440F-A5EC-0744150ACDB4}" dt="2026-05-27T14:37:50.020" v="112"/>
        <pc:sldMkLst>
          <pc:docMk/>
          <pc:sldMk cId="818519687" sldId="268"/>
        </pc:sldMkLst>
      </pc:sldChg>
      <pc:sldChg chg="modSp mod">
        <pc:chgData name="Kritika Aggarwal" userId="33cf9f8942a662cb" providerId="LiveId" clId="{D97EE72D-0B94-440F-A5EC-0744150ACDB4}" dt="2026-05-27T14:42:46.279" v="124" actId="20577"/>
        <pc:sldMkLst>
          <pc:docMk/>
          <pc:sldMk cId="2023711097" sldId="280"/>
        </pc:sldMkLst>
        <pc:spChg chg="mod">
          <ac:chgData name="Kritika Aggarwal" userId="33cf9f8942a662cb" providerId="LiveId" clId="{D97EE72D-0B94-440F-A5EC-0744150ACDB4}" dt="2026-05-27T14:42:46.279" v="124" actId="20577"/>
          <ac:spMkLst>
            <pc:docMk/>
            <pc:sldMk cId="2023711097" sldId="280"/>
            <ac:spMk id="3" creationId="{E72CB04F-5B81-CC59-6168-9FAB7271E63F}"/>
          </ac:spMkLst>
        </pc:spChg>
      </pc:sldChg>
      <pc:sldChg chg="addSp delSp modSp new mod">
        <pc:chgData name="Kritika Aggarwal" userId="33cf9f8942a662cb" providerId="LiveId" clId="{D97EE72D-0B94-440F-A5EC-0744150ACDB4}" dt="2026-05-27T14:23:30.397" v="105" actId="20577"/>
        <pc:sldMkLst>
          <pc:docMk/>
          <pc:sldMk cId="1565377031" sldId="281"/>
        </pc:sldMkLst>
        <pc:spChg chg="mod">
          <ac:chgData name="Kritika Aggarwal" userId="33cf9f8942a662cb" providerId="LiveId" clId="{D97EE72D-0B94-440F-A5EC-0744150ACDB4}" dt="2026-05-27T14:21:02.101" v="83" actId="1076"/>
          <ac:spMkLst>
            <pc:docMk/>
            <pc:sldMk cId="1565377031" sldId="281"/>
            <ac:spMk id="2" creationId="{B623AC77-9CA8-9DDE-31FA-B7742B3702D9}"/>
          </ac:spMkLst>
        </pc:spChg>
        <pc:spChg chg="add mod">
          <ac:chgData name="Kritika Aggarwal" userId="33cf9f8942a662cb" providerId="LiveId" clId="{D97EE72D-0B94-440F-A5EC-0744150ACDB4}" dt="2026-05-27T14:23:30.397" v="105" actId="20577"/>
          <ac:spMkLst>
            <pc:docMk/>
            <pc:sldMk cId="1565377031" sldId="281"/>
            <ac:spMk id="3" creationId="{B85F7581-C856-C0EB-CCF8-D2506C415BB8}"/>
          </ac:spMkLst>
        </pc:spChg>
        <pc:spChg chg="add del mod">
          <ac:chgData name="Kritika Aggarwal" userId="33cf9f8942a662cb" providerId="LiveId" clId="{D97EE72D-0B94-440F-A5EC-0744150ACDB4}" dt="2026-05-27T14:21:47.711" v="89"/>
          <ac:spMkLst>
            <pc:docMk/>
            <pc:sldMk cId="1565377031" sldId="281"/>
            <ac:spMk id="4" creationId="{D36EC708-073C-9150-97F8-7B352DFAA45D}"/>
          </ac:spMkLst>
        </pc:spChg>
      </pc:sldChg>
      <pc:sldChg chg="addSp delSp modSp new mod">
        <pc:chgData name="Kritika Aggarwal" userId="33cf9f8942a662cb" providerId="LiveId" clId="{D97EE72D-0B94-440F-A5EC-0744150ACDB4}" dt="2026-05-27T15:37:36.610" v="398" actId="5793"/>
        <pc:sldMkLst>
          <pc:docMk/>
          <pc:sldMk cId="3957896771" sldId="282"/>
        </pc:sldMkLst>
        <pc:spChg chg="mod">
          <ac:chgData name="Kritika Aggarwal" userId="33cf9f8942a662cb" providerId="LiveId" clId="{D97EE72D-0B94-440F-A5EC-0744150ACDB4}" dt="2026-05-27T14:47:15.145" v="191" actId="115"/>
          <ac:spMkLst>
            <pc:docMk/>
            <pc:sldMk cId="3957896771" sldId="282"/>
            <ac:spMk id="2" creationId="{A1A4414D-C1FF-DEA5-E4ED-D453E1EE7F31}"/>
          </ac:spMkLst>
        </pc:spChg>
        <pc:spChg chg="add del mod">
          <ac:chgData name="Kritika Aggarwal" userId="33cf9f8942a662cb" providerId="LiveId" clId="{D97EE72D-0B94-440F-A5EC-0744150ACDB4}" dt="2026-05-27T15:33:56.439" v="305"/>
          <ac:spMkLst>
            <pc:docMk/>
            <pc:sldMk cId="3957896771" sldId="282"/>
            <ac:spMk id="3" creationId="{D865BFBE-CDA0-C12B-EB68-83EEE0F3122F}"/>
          </ac:spMkLst>
        </pc:spChg>
        <pc:spChg chg="add del mod">
          <ac:chgData name="Kritika Aggarwal" userId="33cf9f8942a662cb" providerId="LiveId" clId="{D97EE72D-0B94-440F-A5EC-0744150ACDB4}" dt="2026-05-27T15:34:05.316" v="308" actId="47"/>
          <ac:spMkLst>
            <pc:docMk/>
            <pc:sldMk cId="3957896771" sldId="282"/>
            <ac:spMk id="4" creationId="{E8DA5142-BF45-E988-BCCD-B8A73E119EC8}"/>
          </ac:spMkLst>
        </pc:spChg>
        <pc:spChg chg="add mod">
          <ac:chgData name="Kritika Aggarwal" userId="33cf9f8942a662cb" providerId="LiveId" clId="{D97EE72D-0B94-440F-A5EC-0744150ACDB4}" dt="2026-05-27T15:37:36.610" v="398" actId="5793"/>
          <ac:spMkLst>
            <pc:docMk/>
            <pc:sldMk cId="3957896771" sldId="282"/>
            <ac:spMk id="5" creationId="{89DF98B8-A976-4178-7925-8F6C805D39CB}"/>
          </ac:spMkLst>
        </pc:spChg>
      </pc:sldChg>
      <pc:sldChg chg="modSp new mod">
        <pc:chgData name="Kritika Aggarwal" userId="33cf9f8942a662cb" providerId="LiveId" clId="{D97EE72D-0B94-440F-A5EC-0744150ACDB4}" dt="2026-05-27T15:45:47.331" v="430" actId="208"/>
        <pc:sldMkLst>
          <pc:docMk/>
          <pc:sldMk cId="3944170167" sldId="283"/>
        </pc:sldMkLst>
        <pc:spChg chg="mod">
          <ac:chgData name="Kritika Aggarwal" userId="33cf9f8942a662cb" providerId="LiveId" clId="{D97EE72D-0B94-440F-A5EC-0744150ACDB4}" dt="2026-05-27T15:45:47.331" v="430" actId="208"/>
          <ac:spMkLst>
            <pc:docMk/>
            <pc:sldMk cId="3944170167" sldId="283"/>
            <ac:spMk id="2" creationId="{682A351F-FC32-BE4C-E4FC-9F41B3DECA4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A17226FD-D086-4BCF-8115-091963B30CE9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87FDED30-AE77-4F7A-A646-F6F790E73B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8332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226FD-D086-4BCF-8115-091963B30CE9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DED30-AE77-4F7A-A646-F6F790E73B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4022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17226FD-D086-4BCF-8115-091963B30CE9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7FDED30-AE77-4F7A-A646-F6F790E73B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1942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226FD-D086-4BCF-8115-091963B30CE9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DED30-AE77-4F7A-A646-F6F790E73B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2109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226FD-D086-4BCF-8115-091963B30CE9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DED30-AE77-4F7A-A646-F6F790E73B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7600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226FD-D086-4BCF-8115-091963B30CE9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DED30-AE77-4F7A-A646-F6F790E73B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8532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226FD-D086-4BCF-8115-091963B30CE9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DED30-AE77-4F7A-A646-F6F790E73B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5654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226FD-D086-4BCF-8115-091963B30CE9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DED30-AE77-4F7A-A646-F6F790E73B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2432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226FD-D086-4BCF-8115-091963B30CE9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DED30-AE77-4F7A-A646-F6F790E73B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9623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226FD-D086-4BCF-8115-091963B30CE9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DED30-AE77-4F7A-A646-F6F790E73B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9492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17226FD-D086-4BCF-8115-091963B30CE9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7FDED30-AE77-4F7A-A646-F6F790E73B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81241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17226FD-D086-4BCF-8115-091963B30CE9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7FDED30-AE77-4F7A-A646-F6F790E73B27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003105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17226FD-D086-4BCF-8115-091963B30CE9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7FDED30-AE77-4F7A-A646-F6F790E73B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80748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226FD-D086-4BCF-8115-091963B30CE9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DED30-AE77-4F7A-A646-F6F790E73B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08461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226FD-D086-4BCF-8115-091963B30CE9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DED30-AE77-4F7A-A646-F6F790E73B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51597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226FD-D086-4BCF-8115-091963B30CE9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DED30-AE77-4F7A-A646-F6F790E73B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64052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17226FD-D086-4BCF-8115-091963B30CE9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7FDED30-AE77-4F7A-A646-F6F790E73B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1630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7226FD-D086-4BCF-8115-091963B30CE9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FDED30-AE77-4F7A-A646-F6F790E73B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54305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6.png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40AE0-C789-3F7B-CF44-A95987D182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4736" y="1122364"/>
            <a:ext cx="8485238" cy="1168551"/>
          </a:xfrm>
          <a:ln>
            <a:solidFill>
              <a:schemeClr val="accent1"/>
            </a:solidFill>
          </a:ln>
          <a:effectLst>
            <a:glow rad="228600">
              <a:schemeClr val="accent4">
                <a:satMod val="175000"/>
                <a:alpha val="40000"/>
              </a:schemeClr>
            </a:glow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txBody>
          <a:bodyPr>
            <a:normAutofit fontScale="90000"/>
          </a:bodyPr>
          <a:lstStyle/>
          <a:p>
            <a:br>
              <a:rPr lang="en-IN" b="1" dirty="0"/>
            </a:br>
            <a:r>
              <a:rPr lang="en-IN" b="1" dirty="0"/>
              <a:t> </a:t>
            </a:r>
            <a:br>
              <a:rPr lang="en-IN" b="1" dirty="0"/>
            </a:br>
            <a:r>
              <a:rPr lang="en-IN" b="1" dirty="0"/>
              <a:t>  </a:t>
            </a:r>
            <a:br>
              <a:rPr lang="en-IN" b="1" dirty="0"/>
            </a:br>
            <a:r>
              <a:rPr lang="en-IN" b="1" dirty="0"/>
              <a:t> </a:t>
            </a: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r>
              <a:rPr lang="en-IN" b="1" dirty="0"/>
              <a:t>🐄 </a:t>
            </a:r>
            <a:r>
              <a:rPr lang="en-IN" dirty="0">
                <a:latin typeface="Bauhaus 93" panose="04030905020B02020C02" pitchFamily="82" charset="0"/>
              </a:rPr>
              <a:t>DAIRY FaRM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66DF0E-62D0-8304-2043-69C76AE085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6508134"/>
            <a:ext cx="820995" cy="349866"/>
          </a:xfrm>
        </p:spPr>
        <p:txBody>
          <a:bodyPr>
            <a:normAutofit lnSpcReduction="10000"/>
          </a:bodyPr>
          <a:lstStyle/>
          <a:p>
            <a:r>
              <a:rPr lang="en-IN" dirty="0"/>
              <a:t>.</a:t>
            </a:r>
          </a:p>
        </p:txBody>
      </p:sp>
      <p:pic>
        <p:nvPicPr>
          <p:cNvPr id="5" name="Picture 4" descr="Cows in a farm&#10;&#10;AI-generated content may be incorrect.">
            <a:extLst>
              <a:ext uri="{FF2B5EF4-FFF2-40B4-BE49-F238E27FC236}">
                <a16:creationId xmlns:a16="http://schemas.microsoft.com/office/drawing/2014/main" id="{4F54440C-9188-4E52-84B5-477F27C9D3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8581" y="2573546"/>
            <a:ext cx="7177548" cy="2598216"/>
          </a:xfrm>
          <a:prstGeom prst="rect">
            <a:avLst/>
          </a:prstGeom>
        </p:spPr>
      </p:pic>
      <p:pic>
        <p:nvPicPr>
          <p:cNvPr id="7" name="Picture 6" descr="A cow with windmills and blue ribbon&#10;&#10;AI-generated content may be incorrect.">
            <a:extLst>
              <a:ext uri="{FF2B5EF4-FFF2-40B4-BE49-F238E27FC236}">
                <a16:creationId xmlns:a16="http://schemas.microsoft.com/office/drawing/2014/main" id="{9BEA1C98-8B1F-7E0E-76BB-A472CE6C3D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2970" y="947400"/>
            <a:ext cx="2221008" cy="1520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80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3AC77-9CA8-9DDE-31FA-B7742B370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354" y="921689"/>
            <a:ext cx="8610600" cy="1202079"/>
          </a:xfrm>
        </p:spPr>
        <p:txBody>
          <a:bodyPr>
            <a:normAutofit fontScale="90000"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IN" sz="6000" b="1" cap="none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📌</a:t>
            </a:r>
            <a:r>
              <a:rPr lang="en-IN" sz="6000" b="1" cap="none" dirty="0">
                <a:ln/>
                <a:solidFill>
                  <a:schemeClr val="accent3"/>
                </a:solidFill>
              </a:rPr>
              <a:t> </a:t>
            </a:r>
            <a:r>
              <a:rPr lang="en-IN" sz="6000" b="1" u="sng" cap="none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Bahnschrift" panose="020B0502040204020203" pitchFamily="34" charset="0"/>
              </a:rPr>
              <a:t>Project Overview</a:t>
            </a:r>
            <a:br>
              <a:rPr lang="en-IN" b="1" cap="none" dirty="0">
                <a:ln/>
                <a:solidFill>
                  <a:schemeClr val="accent3"/>
                </a:solidFill>
              </a:rPr>
            </a:br>
            <a:endParaRPr lang="en-IN" b="1" cap="none" dirty="0">
              <a:ln/>
              <a:solidFill>
                <a:schemeClr val="accent3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5F7581-C856-C0EB-CCF8-D2506C415BB8}"/>
              </a:ext>
            </a:extLst>
          </p:cNvPr>
          <p:cNvSpPr txBox="1"/>
          <p:nvPr/>
        </p:nvSpPr>
        <p:spPr>
          <a:xfrm>
            <a:off x="1042219" y="2974258"/>
            <a:ext cx="1010756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This project is an </a:t>
            </a:r>
            <a:r>
              <a:rPr lang="en-US" b="1" dirty="0"/>
              <a:t>Interactive Dairy Farm SQL Reporting System</a:t>
            </a:r>
            <a:r>
              <a:rPr lang="en-US" dirty="0"/>
              <a:t> designed to analyze sales, revenue, inventory, and customer purchasing behavior using SQL queries and interactive dashboards.</a:t>
            </a:r>
          </a:p>
          <a:p>
            <a:endParaRPr lang="en-US" dirty="0"/>
          </a:p>
          <a:p>
            <a:r>
              <a:rPr lang="en-US" dirty="0"/>
              <a:t>- This project use data to demonstrate how </a:t>
            </a:r>
            <a:r>
              <a:rPr lang="en-US" b="1" dirty="0"/>
              <a:t>SQL can be used to analyze data</a:t>
            </a:r>
            <a:r>
              <a:rPr lang="en-US" dirty="0"/>
              <a:t>, answer real-world questions.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r>
              <a:rPr lang="en-US" dirty="0"/>
              <a:t>- The project focuses on transforming raw dairy farm business data into meaningful insights that help improve operational and business decision-making.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53770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821F5-643C-72DA-828B-998C3C36B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1 Total revenue generated by each product</a:t>
            </a:r>
            <a:endParaRPr lang="en-IN" dirty="0">
              <a:latin typeface="Algerian" panose="04020705040A02060702" pitchFamily="82" charset="0"/>
            </a:endParaRPr>
          </a:p>
        </p:txBody>
      </p:sp>
      <p:pic>
        <p:nvPicPr>
          <p:cNvPr id="12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E21075B-C257-1D95-5FC3-D4BC77A6EB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659"/>
          <a:stretch>
            <a:fillRect/>
          </a:stretch>
        </p:blipFill>
        <p:spPr>
          <a:xfrm>
            <a:off x="1514168" y="2144764"/>
            <a:ext cx="8610600" cy="4344527"/>
          </a:xfrm>
        </p:spPr>
      </p:pic>
    </p:spTree>
    <p:extLst>
      <p:ext uri="{BB962C8B-B14F-4D97-AF65-F5344CB8AC3E}">
        <p14:creationId xmlns:p14="http://schemas.microsoft.com/office/powerpoint/2010/main" val="1837572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157B1-E829-2D1B-8CE7-515277C34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2 Brand with the highest total revenue</a:t>
            </a:r>
            <a:endParaRPr lang="en-IN" dirty="0">
              <a:latin typeface="Algerian" panose="04020705040A02060702" pitchFamily="82" charset="0"/>
            </a:endParaRP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3AE039B-878E-D4DF-FAFB-39896A10D3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442"/>
          <a:stretch>
            <a:fillRect/>
          </a:stretch>
        </p:blipFill>
        <p:spPr>
          <a:xfrm>
            <a:off x="1781006" y="2193925"/>
            <a:ext cx="9211459" cy="4024313"/>
          </a:xfrm>
        </p:spPr>
      </p:pic>
    </p:spTree>
    <p:extLst>
      <p:ext uri="{BB962C8B-B14F-4D97-AF65-F5344CB8AC3E}">
        <p14:creationId xmlns:p14="http://schemas.microsoft.com/office/powerpoint/2010/main" val="3515118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883B4-F8F9-6FCF-6367-23746072E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7612" y="636554"/>
            <a:ext cx="8610600" cy="1293028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3  Monthly revenue trend across all product</a:t>
            </a:r>
            <a:endParaRPr lang="en-IN" dirty="0">
              <a:latin typeface="Algerian" panose="04020705040A02060702" pitchFamily="82" charset="0"/>
            </a:endParaRPr>
          </a:p>
        </p:txBody>
      </p:sp>
      <p:pic>
        <p:nvPicPr>
          <p:cNvPr id="8" name="Content Placeholder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10B9C65-14A0-2AAE-3F5B-90F69299E2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710"/>
          <a:stretch>
            <a:fillRect/>
          </a:stretch>
        </p:blipFill>
        <p:spPr>
          <a:xfrm>
            <a:off x="1379150" y="2241755"/>
            <a:ext cx="7450218" cy="3851872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CCD877C-6D10-ABA9-CB49-C1FBE820E541}"/>
              </a:ext>
            </a:extLst>
          </p:cNvPr>
          <p:cNvSpPr txBox="1"/>
          <p:nvPr/>
        </p:nvSpPr>
        <p:spPr>
          <a:xfrm>
            <a:off x="9271820" y="2322153"/>
            <a:ext cx="239907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6"/>
                </a:solidFill>
                <a:latin typeface="Arial Rounded MT Bold" panose="020F0704030504030204" pitchFamily="34" charset="0"/>
              </a:rPr>
              <a:t>1 = JANUARY</a:t>
            </a:r>
          </a:p>
          <a:p>
            <a:r>
              <a:rPr lang="en-IN" dirty="0">
                <a:solidFill>
                  <a:schemeClr val="accent6"/>
                </a:solidFill>
                <a:latin typeface="Arial Rounded MT Bold" panose="020F0704030504030204" pitchFamily="34" charset="0"/>
              </a:rPr>
              <a:t> 2 = FEBRUARY</a:t>
            </a:r>
          </a:p>
          <a:p>
            <a:r>
              <a:rPr lang="en-IN" dirty="0">
                <a:solidFill>
                  <a:schemeClr val="accent6"/>
                </a:solidFill>
                <a:latin typeface="Arial Rounded MT Bold" panose="020F0704030504030204" pitchFamily="34" charset="0"/>
              </a:rPr>
              <a:t>3 = MARCH</a:t>
            </a:r>
          </a:p>
          <a:p>
            <a:r>
              <a:rPr lang="en-IN" dirty="0">
                <a:solidFill>
                  <a:schemeClr val="accent6"/>
                </a:solidFill>
                <a:latin typeface="Arial Rounded MT Bold" panose="020F0704030504030204" pitchFamily="34" charset="0"/>
              </a:rPr>
              <a:t>4 = APRIL</a:t>
            </a:r>
          </a:p>
          <a:p>
            <a:r>
              <a:rPr lang="en-IN" dirty="0">
                <a:solidFill>
                  <a:schemeClr val="accent6"/>
                </a:solidFill>
                <a:latin typeface="Arial Rounded MT Bold" panose="020F0704030504030204" pitchFamily="34" charset="0"/>
              </a:rPr>
              <a:t>5 = MAY</a:t>
            </a:r>
          </a:p>
          <a:p>
            <a:r>
              <a:rPr lang="en-IN" dirty="0">
                <a:solidFill>
                  <a:schemeClr val="accent6"/>
                </a:solidFill>
                <a:latin typeface="Arial Rounded MT Bold" panose="020F0704030504030204" pitchFamily="34" charset="0"/>
              </a:rPr>
              <a:t>6 = JUNE</a:t>
            </a:r>
          </a:p>
          <a:p>
            <a:r>
              <a:rPr lang="en-IN" dirty="0">
                <a:solidFill>
                  <a:schemeClr val="accent6"/>
                </a:solidFill>
                <a:latin typeface="Arial Rounded MT Bold" panose="020F0704030504030204" pitchFamily="34" charset="0"/>
              </a:rPr>
              <a:t>7 = JULY</a:t>
            </a:r>
          </a:p>
          <a:p>
            <a:r>
              <a:rPr lang="en-IN" dirty="0">
                <a:solidFill>
                  <a:schemeClr val="accent6"/>
                </a:solidFill>
                <a:latin typeface="Arial Rounded MT Bold" panose="020F0704030504030204" pitchFamily="34" charset="0"/>
              </a:rPr>
              <a:t>8 = AUGUST</a:t>
            </a:r>
          </a:p>
          <a:p>
            <a:r>
              <a:rPr lang="en-IN" dirty="0">
                <a:solidFill>
                  <a:schemeClr val="accent6"/>
                </a:solidFill>
                <a:latin typeface="Arial Rounded MT Bold" panose="020F0704030504030204" pitchFamily="34" charset="0"/>
              </a:rPr>
              <a:t>9 = SEPTEMBER</a:t>
            </a:r>
          </a:p>
          <a:p>
            <a:r>
              <a:rPr lang="en-IN" dirty="0">
                <a:solidFill>
                  <a:schemeClr val="accent6"/>
                </a:solidFill>
                <a:latin typeface="Arial Rounded MT Bold" panose="020F0704030504030204" pitchFamily="34" charset="0"/>
              </a:rPr>
              <a:t>10 = OCTOBER</a:t>
            </a:r>
          </a:p>
          <a:p>
            <a:r>
              <a:rPr lang="en-IN" dirty="0">
                <a:solidFill>
                  <a:schemeClr val="accent6"/>
                </a:solidFill>
                <a:latin typeface="Arial Rounded MT Bold" panose="020F0704030504030204" pitchFamily="34" charset="0"/>
              </a:rPr>
              <a:t>11 = NOVEMBER</a:t>
            </a:r>
          </a:p>
          <a:p>
            <a:r>
              <a:rPr lang="en-IN" dirty="0">
                <a:solidFill>
                  <a:schemeClr val="accent6"/>
                </a:solidFill>
                <a:latin typeface="Arial Rounded MT Bold" panose="020F0704030504030204" pitchFamily="34" charset="0"/>
              </a:rPr>
              <a:t>12 = DECEMBER</a:t>
            </a:r>
          </a:p>
        </p:txBody>
      </p:sp>
    </p:spTree>
    <p:extLst>
      <p:ext uri="{BB962C8B-B14F-4D97-AF65-F5344CB8AC3E}">
        <p14:creationId xmlns:p14="http://schemas.microsoft.com/office/powerpoint/2010/main" val="12103835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C2AAC-6C2F-D9B7-4287-3703F82E5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4 Products below the min stock threshold</a:t>
            </a:r>
            <a:endParaRPr lang="en-IN" dirty="0">
              <a:latin typeface="Algerian" panose="04020705040A02060702" pitchFamily="82" charset="0"/>
            </a:endParaRPr>
          </a:p>
        </p:txBody>
      </p:sp>
      <p:pic>
        <p:nvPicPr>
          <p:cNvPr id="9" name="Content Placeholder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69BA92D-A896-799A-AE87-D9FB8AC0C1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459"/>
          <a:stretch>
            <a:fillRect/>
          </a:stretch>
        </p:blipFill>
        <p:spPr>
          <a:xfrm>
            <a:off x="550606" y="1628979"/>
            <a:ext cx="7885471" cy="4752156"/>
          </a:xfrm>
        </p:spPr>
      </p:pic>
    </p:spTree>
    <p:extLst>
      <p:ext uri="{BB962C8B-B14F-4D97-AF65-F5344CB8AC3E}">
        <p14:creationId xmlns:p14="http://schemas.microsoft.com/office/powerpoint/2010/main" val="9409717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2509B-8552-5432-9015-620DC8972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5 Total reorder qty required per product</a:t>
            </a:r>
            <a:endParaRPr lang="en-IN" dirty="0">
              <a:latin typeface="Algerian" panose="04020705040A02060702" pitchFamily="82" charset="0"/>
            </a:endParaRPr>
          </a:p>
        </p:txBody>
      </p:sp>
      <p:pic>
        <p:nvPicPr>
          <p:cNvPr id="4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D653E55-AFBE-7430-A8D5-E4CDE0D123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5306" y="2193925"/>
            <a:ext cx="9441388" cy="4024313"/>
          </a:xfrm>
        </p:spPr>
      </p:pic>
    </p:spTree>
    <p:extLst>
      <p:ext uri="{BB962C8B-B14F-4D97-AF65-F5344CB8AC3E}">
        <p14:creationId xmlns:p14="http://schemas.microsoft.com/office/powerpoint/2010/main" val="30837766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A2EE0-0E32-CE51-84E6-3B304C03B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6. Which sales channel generated the most revenue</a:t>
            </a:r>
            <a:endParaRPr lang="en-IN" dirty="0">
              <a:latin typeface="Algerian" panose="04020705040A02060702" pitchFamily="82" charset="0"/>
            </a:endParaRPr>
          </a:p>
        </p:txBody>
      </p:sp>
      <p:pic>
        <p:nvPicPr>
          <p:cNvPr id="17" name="Content Placeholder 1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95385C1-353F-D59F-7EBB-7E75524BEC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2223718"/>
            <a:ext cx="10820400" cy="3964726"/>
          </a:xfrm>
        </p:spPr>
      </p:pic>
    </p:spTree>
    <p:extLst>
      <p:ext uri="{BB962C8B-B14F-4D97-AF65-F5344CB8AC3E}">
        <p14:creationId xmlns:p14="http://schemas.microsoft.com/office/powerpoint/2010/main" val="2029403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52188-841E-7EB5-8417-74F095DA1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4286"/>
            <a:ext cx="10515600" cy="1325563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7. Top 5 customers location by purchases vol</a:t>
            </a:r>
            <a:endParaRPr lang="en-IN" dirty="0">
              <a:latin typeface="Algerian" panose="04020705040A02060702" pitchFamily="82" charset="0"/>
            </a:endParaRP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255C9A8-9B3D-B4C0-A943-C5176DEAFB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737" b="20164"/>
          <a:stretch>
            <a:fillRect/>
          </a:stretch>
        </p:blipFill>
        <p:spPr>
          <a:xfrm>
            <a:off x="1874508" y="2071431"/>
            <a:ext cx="7977415" cy="4152388"/>
          </a:xfrm>
        </p:spPr>
      </p:pic>
    </p:spTree>
    <p:extLst>
      <p:ext uri="{BB962C8B-B14F-4D97-AF65-F5344CB8AC3E}">
        <p14:creationId xmlns:p14="http://schemas.microsoft.com/office/powerpoint/2010/main" val="19942679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11AB6-3C43-1EC7-3608-2D3D231B6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8. Avg selling price per product</a:t>
            </a:r>
            <a:endParaRPr lang="en-IN" dirty="0">
              <a:latin typeface="Algerian" panose="04020705040A02060702" pitchFamily="82" charset="0"/>
            </a:endParaRPr>
          </a:p>
        </p:txBody>
      </p:sp>
      <p:pic>
        <p:nvPicPr>
          <p:cNvPr id="9" name="Content Placeholder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B54D0EA-05E4-8635-BB60-3A82773EE8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158"/>
          <a:stretch>
            <a:fillRect/>
          </a:stretch>
        </p:blipFill>
        <p:spPr>
          <a:xfrm>
            <a:off x="2379405" y="1927532"/>
            <a:ext cx="6927026" cy="4565343"/>
          </a:xfrm>
        </p:spPr>
      </p:pic>
    </p:spTree>
    <p:extLst>
      <p:ext uri="{BB962C8B-B14F-4D97-AF65-F5344CB8AC3E}">
        <p14:creationId xmlns:p14="http://schemas.microsoft.com/office/powerpoint/2010/main" val="19966204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3A595-7C1F-2449-AA34-688291CD3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9. Compare selling price with listed price</a:t>
            </a:r>
            <a:endParaRPr lang="en-IN" dirty="0">
              <a:latin typeface="Algerian" panose="04020705040A02060702" pitchFamily="82" charset="0"/>
            </a:endParaRP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A62E066-8189-0645-7D7E-298A09D388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970"/>
          <a:stretch>
            <a:fillRect/>
          </a:stretch>
        </p:blipFill>
        <p:spPr>
          <a:xfrm>
            <a:off x="1582995" y="1796127"/>
            <a:ext cx="8799870" cy="4860311"/>
          </a:xfrm>
        </p:spPr>
      </p:pic>
    </p:spTree>
    <p:extLst>
      <p:ext uri="{BB962C8B-B14F-4D97-AF65-F5344CB8AC3E}">
        <p14:creationId xmlns:p14="http://schemas.microsoft.com/office/powerpoint/2010/main" val="23572953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01A92-3C4F-0CCA-6F1A-E14B1EF17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10. Products with less than 10 days shelf life remaining</a:t>
            </a:r>
            <a:endParaRPr lang="en-IN" dirty="0">
              <a:latin typeface="Algerian" panose="04020705040A02060702" pitchFamily="82" charset="0"/>
            </a:endParaRPr>
          </a:p>
        </p:txBody>
      </p:sp>
      <p:pic>
        <p:nvPicPr>
          <p:cNvPr id="4" name="Content Placeholder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28779E1-9514-14AD-5E02-396F289AF4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002" y="2193925"/>
            <a:ext cx="6427996" cy="4024313"/>
          </a:xfrm>
        </p:spPr>
      </p:pic>
    </p:spTree>
    <p:extLst>
      <p:ext uri="{BB962C8B-B14F-4D97-AF65-F5344CB8AC3E}">
        <p14:creationId xmlns:p14="http://schemas.microsoft.com/office/powerpoint/2010/main" val="7032769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C0D3A-4976-BFA9-D718-0D0256A42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11. Avg shelf life by product category</a:t>
            </a:r>
            <a:endParaRPr lang="en-IN" dirty="0">
              <a:latin typeface="Algerian" panose="04020705040A02060702" pitchFamily="82" charset="0"/>
            </a:endParaRPr>
          </a:p>
        </p:txBody>
      </p:sp>
      <p:pic>
        <p:nvPicPr>
          <p:cNvPr id="17" name="Content Placeholder 1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8C8A576-042A-2792-B873-EC83FFF179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255"/>
          <a:stretch>
            <a:fillRect/>
          </a:stretch>
        </p:blipFill>
        <p:spPr>
          <a:xfrm>
            <a:off x="2123768" y="2061599"/>
            <a:ext cx="6833486" cy="4516182"/>
          </a:xfrm>
        </p:spPr>
      </p:pic>
    </p:spTree>
    <p:extLst>
      <p:ext uri="{BB962C8B-B14F-4D97-AF65-F5344CB8AC3E}">
        <p14:creationId xmlns:p14="http://schemas.microsoft.com/office/powerpoint/2010/main" val="37133246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4C874-6C0D-AE4B-8F57-031B4CCA2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12. Avg no. of cows per farm size category</a:t>
            </a:r>
            <a:endParaRPr lang="en-IN" dirty="0">
              <a:latin typeface="Algerian" panose="04020705040A02060702" pitchFamily="82" charset="0"/>
            </a:endParaRPr>
          </a:p>
        </p:txBody>
      </p:sp>
      <p:pic>
        <p:nvPicPr>
          <p:cNvPr id="4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1A112F0-E99A-0219-C2C3-4743D1915C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367"/>
          <a:stretch>
            <a:fillRect/>
          </a:stretch>
        </p:blipFill>
        <p:spPr>
          <a:xfrm>
            <a:off x="2037734" y="2119602"/>
            <a:ext cx="7971503" cy="4300862"/>
          </a:xfrm>
        </p:spPr>
      </p:pic>
    </p:spTree>
    <p:extLst>
      <p:ext uri="{BB962C8B-B14F-4D97-AF65-F5344CB8AC3E}">
        <p14:creationId xmlns:p14="http://schemas.microsoft.com/office/powerpoint/2010/main" val="8185196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5E3C7-669F-5C04-5A09-0D8187F23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13. Location with the largest total land area</a:t>
            </a:r>
            <a:endParaRPr lang="en-IN" dirty="0">
              <a:latin typeface="Algerian" panose="04020705040A02060702" pitchFamily="82" charset="0"/>
            </a:endParaRPr>
          </a:p>
        </p:txBody>
      </p:sp>
      <p:pic>
        <p:nvPicPr>
          <p:cNvPr id="8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D57A6A1-30F7-4982-F0D3-01F86BFBD8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2590257"/>
            <a:ext cx="10820400" cy="3231649"/>
          </a:xfrm>
        </p:spPr>
      </p:pic>
    </p:spTree>
    <p:extLst>
      <p:ext uri="{BB962C8B-B14F-4D97-AF65-F5344CB8AC3E}">
        <p14:creationId xmlns:p14="http://schemas.microsoft.com/office/powerpoint/2010/main" val="22722822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0D1E3-E411-3D24-03FA-AF3C6555A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14. Top 3 location by average production qty</a:t>
            </a:r>
            <a:endParaRPr lang="en-IN" dirty="0">
              <a:latin typeface="Algerian" panose="04020705040A02060702" pitchFamily="82" charset="0"/>
            </a:endParaRPr>
          </a:p>
        </p:txBody>
      </p:sp>
      <p:pic>
        <p:nvPicPr>
          <p:cNvPr id="4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4AEF3BA-DF56-BA08-A1D3-EDDD1DDA37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2450772"/>
            <a:ext cx="10820400" cy="3510618"/>
          </a:xfrm>
        </p:spPr>
      </p:pic>
    </p:spTree>
    <p:extLst>
      <p:ext uri="{BB962C8B-B14F-4D97-AF65-F5344CB8AC3E}">
        <p14:creationId xmlns:p14="http://schemas.microsoft.com/office/powerpoint/2010/main" val="2357123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B693D-3787-DA16-8E5F-3EFFF299F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15. Calculate profit for each product</a:t>
            </a:r>
            <a:endParaRPr lang="en-IN" dirty="0">
              <a:latin typeface="Algerian" panose="04020705040A02060702" pitchFamily="82" charset="0"/>
            </a:endParaRPr>
          </a:p>
        </p:txBody>
      </p:sp>
      <p:pic>
        <p:nvPicPr>
          <p:cNvPr id="4" name="Content Placeholder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83BE0AE-213F-9372-9007-8E265F44F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281" b="15321"/>
          <a:stretch>
            <a:fillRect/>
          </a:stretch>
        </p:blipFill>
        <p:spPr>
          <a:xfrm>
            <a:off x="1324686" y="1937365"/>
            <a:ext cx="8419082" cy="4555510"/>
          </a:xfrm>
        </p:spPr>
      </p:pic>
    </p:spTree>
    <p:extLst>
      <p:ext uri="{BB962C8B-B14F-4D97-AF65-F5344CB8AC3E}">
        <p14:creationId xmlns:p14="http://schemas.microsoft.com/office/powerpoint/2010/main" val="2560693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9E48D-0989-E6FF-3700-C2FF3C6ED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16. Most profitable brand overall</a:t>
            </a:r>
            <a:endParaRPr lang="en-IN" dirty="0">
              <a:latin typeface="Algerian" panose="04020705040A02060702" pitchFamily="82" charset="0"/>
            </a:endParaRP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614203C-4B0B-B0F6-0C80-AE92EE523D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2378796"/>
            <a:ext cx="10820400" cy="3654571"/>
          </a:xfrm>
        </p:spPr>
      </p:pic>
    </p:spTree>
    <p:extLst>
      <p:ext uri="{BB962C8B-B14F-4D97-AF65-F5344CB8AC3E}">
        <p14:creationId xmlns:p14="http://schemas.microsoft.com/office/powerpoint/2010/main" val="18170372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79770-1075-9E3A-1119-052D17A29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lgerian" panose="04020705040A02060702" pitchFamily="82" charset="0"/>
              </a:rPr>
              <a:t>PROFITABILITY BRAND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49B058-8CDC-AB18-26E0-EFD499C459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90687"/>
            <a:ext cx="4862922" cy="344589"/>
          </a:xfrm>
        </p:spPr>
        <p:txBody>
          <a:bodyPr>
            <a:normAutofit fontScale="77500" lnSpcReduction="20000"/>
          </a:bodyPr>
          <a:lstStyle/>
          <a:p>
            <a:pPr marL="342900" indent="-342900" algn="ctr">
              <a:buFont typeface="Wingdings" panose="05000000000000000000" pitchFamily="2" charset="2"/>
              <a:buChar char="q"/>
            </a:pPr>
            <a:r>
              <a:rPr lang="en-IN" dirty="0">
                <a:latin typeface="Arial Black" panose="020B0A04020102020204" pitchFamily="34" charset="0"/>
              </a:rPr>
              <a:t>TOP 1</a:t>
            </a:r>
          </a:p>
        </p:txBody>
      </p:sp>
      <p:pic>
        <p:nvPicPr>
          <p:cNvPr id="8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02ACCE9-F352-5DC5-E2E2-956B1F273F7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924" b="25643"/>
          <a:stretch>
            <a:fillRect/>
          </a:stretch>
        </p:blipFill>
        <p:spPr>
          <a:xfrm>
            <a:off x="839788" y="2416585"/>
            <a:ext cx="4862921" cy="3649918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19A513-5E9A-578A-A42A-70FAC3122B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317523"/>
            <a:ext cx="5183188" cy="717754"/>
          </a:xfrm>
        </p:spPr>
        <p:txBody>
          <a:bodyPr>
            <a:normAutofit fontScale="77500" lnSpcReduction="20000"/>
          </a:bodyPr>
          <a:lstStyle/>
          <a:p>
            <a:pPr marL="342900" indent="-342900" algn="ctr">
              <a:buFont typeface="Wingdings" panose="05000000000000000000" pitchFamily="2" charset="2"/>
              <a:buChar char="q"/>
            </a:pPr>
            <a:r>
              <a:rPr lang="en-IN" dirty="0">
                <a:latin typeface="Arial Black" panose="020B0A04020102020204" pitchFamily="34" charset="0"/>
              </a:rPr>
              <a:t>TOP 5</a:t>
            </a: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EC5EC84-A137-FC60-C970-E22743BB8EB8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839" b="25276"/>
          <a:stretch>
            <a:fillRect/>
          </a:stretch>
        </p:blipFill>
        <p:spPr>
          <a:xfrm>
            <a:off x="6172200" y="2416585"/>
            <a:ext cx="5321710" cy="3773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2119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A5F2A-67F4-77B4-89F4-2142E1AB0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lgerian" panose="04020705040A02060702" pitchFamily="82" charset="0"/>
              </a:rPr>
              <a:t>17. Yearly revenue growth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47AB3B8-E34B-142E-D1DE-61A79DE435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6449" y="2193925"/>
            <a:ext cx="8979102" cy="4024313"/>
          </a:xfrm>
        </p:spPr>
      </p:pic>
    </p:spTree>
    <p:extLst>
      <p:ext uri="{BB962C8B-B14F-4D97-AF65-F5344CB8AC3E}">
        <p14:creationId xmlns:p14="http://schemas.microsoft.com/office/powerpoint/2010/main" val="38027122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02415-9951-ABB1-45EE-DE26186AD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18. Best selling product each yr</a:t>
            </a:r>
            <a:endParaRPr lang="en-IN" dirty="0">
              <a:latin typeface="Algerian" panose="04020705040A02060702" pitchFamily="82" charset="0"/>
            </a:endParaRP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E8A2630-FA9F-D837-473B-32381D8B46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7187" y="1690688"/>
            <a:ext cx="8996516" cy="4415144"/>
          </a:xfrm>
        </p:spPr>
      </p:pic>
    </p:spTree>
    <p:extLst>
      <p:ext uri="{BB962C8B-B14F-4D97-AF65-F5344CB8AC3E}">
        <p14:creationId xmlns:p14="http://schemas.microsoft.com/office/powerpoint/2010/main" val="40175086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9782E-1FED-1934-BFE9-A8A6722EC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324"/>
            <a:ext cx="10515600" cy="707922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18. Best selling product each yr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2CB04F-5B81-CC59-6168-9FAB7271E6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904568"/>
            <a:ext cx="4823593" cy="422787"/>
          </a:xfrm>
        </p:spPr>
        <p:txBody>
          <a:bodyPr>
            <a:normAutofit fontScale="92500" lnSpcReduction="10000"/>
          </a:bodyPr>
          <a:lstStyle/>
          <a:p>
            <a:r>
              <a:rPr lang="en-IN" u="sng" dirty="0">
                <a:latin typeface="Arial Rounded MT Bold" panose="020F0704030504030204" pitchFamily="34" charset="0"/>
              </a:rPr>
              <a:t>IN YEAR 2019 (Butter)</a:t>
            </a:r>
          </a:p>
        </p:txBody>
      </p:sp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8E18787-9E9D-E254-37E8-EF92809C78C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991" b="19033"/>
          <a:stretch>
            <a:fillRect/>
          </a:stretch>
        </p:blipFill>
        <p:spPr>
          <a:xfrm>
            <a:off x="6617914" y="1425677"/>
            <a:ext cx="4737474" cy="2003323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4E53F2-29D9-67D1-6F3D-C34289512A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15432" y="904568"/>
            <a:ext cx="4639956" cy="422787"/>
          </a:xfrm>
        </p:spPr>
        <p:txBody>
          <a:bodyPr>
            <a:normAutofit fontScale="92500" lnSpcReduction="10000"/>
          </a:bodyPr>
          <a:lstStyle/>
          <a:p>
            <a:r>
              <a:rPr lang="en-IN" u="sng" dirty="0">
                <a:latin typeface="Arial Rounded MT Bold" panose="020F0704030504030204" pitchFamily="34" charset="0"/>
              </a:rPr>
              <a:t>IN YEAR 2020 (CURD)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C3E297-154E-F5D6-6F57-659DA45C02E9}"/>
              </a:ext>
            </a:extLst>
          </p:cNvPr>
          <p:cNvSpPr txBox="1"/>
          <p:nvPr/>
        </p:nvSpPr>
        <p:spPr>
          <a:xfrm>
            <a:off x="688258" y="3706763"/>
            <a:ext cx="396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u="sng" dirty="0">
                <a:latin typeface="Arial Rounded MT Bold" panose="020F0704030504030204" pitchFamily="34" charset="0"/>
              </a:rPr>
              <a:t>IN YEAR 2021(YOGURT)</a:t>
            </a:r>
          </a:p>
        </p:txBody>
      </p:sp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C03A8F3-53CB-43B6-E32F-26501735CF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451" b="19091"/>
          <a:stretch>
            <a:fillRect/>
          </a:stretch>
        </p:blipFill>
        <p:spPr>
          <a:xfrm>
            <a:off x="389361" y="4326194"/>
            <a:ext cx="5274019" cy="243348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4400368-19C1-A6D1-EB08-4F8ABA047370}"/>
              </a:ext>
            </a:extLst>
          </p:cNvPr>
          <p:cNvSpPr txBox="1"/>
          <p:nvPr/>
        </p:nvSpPr>
        <p:spPr>
          <a:xfrm>
            <a:off x="6760404" y="3637939"/>
            <a:ext cx="44245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u="sng" dirty="0">
                <a:latin typeface="Arial Rounded MT Bold" panose="020F0704030504030204" pitchFamily="34" charset="0"/>
              </a:rPr>
              <a:t>IN YEAR 2022 (CURD)</a:t>
            </a:r>
          </a:p>
        </p:txBody>
      </p:sp>
      <p:pic>
        <p:nvPicPr>
          <p:cNvPr id="20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7A79C8B-A2AF-EF6F-7FC2-0C61E72A3C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51" r="30202" b="18607"/>
          <a:stretch>
            <a:fillRect/>
          </a:stretch>
        </p:blipFill>
        <p:spPr>
          <a:xfrm>
            <a:off x="389361" y="1425677"/>
            <a:ext cx="4988883" cy="2212262"/>
          </a:xfrm>
          <a:prstGeom prst="rect">
            <a:avLst/>
          </a:prstGeom>
        </p:spPr>
      </p:pic>
      <p:pic>
        <p:nvPicPr>
          <p:cNvPr id="21" name="Content Placeholder 2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8467940-21DA-EA9D-204D-B882BC67CEBA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-22624" b="-10820"/>
          <a:stretch>
            <a:fillRect/>
          </a:stretch>
        </p:blipFill>
        <p:spPr>
          <a:xfrm>
            <a:off x="6528622" y="4326194"/>
            <a:ext cx="5998387" cy="270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7110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1006C-D78C-9E35-6EA8-6709BB241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19. Products that need immediate restock</a:t>
            </a:r>
            <a:endParaRPr lang="en-IN" dirty="0">
              <a:latin typeface="Algerian" panose="04020705040A02060702" pitchFamily="82" charset="0"/>
            </a:endParaRP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9FF6944-2CEE-2588-AE1F-D4F3F83C0F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065" y="2331576"/>
            <a:ext cx="10205883" cy="4024313"/>
          </a:xfrm>
        </p:spPr>
      </p:pic>
    </p:spTree>
    <p:extLst>
      <p:ext uri="{BB962C8B-B14F-4D97-AF65-F5344CB8AC3E}">
        <p14:creationId xmlns:p14="http://schemas.microsoft.com/office/powerpoint/2010/main" val="10157094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0830A-D753-B9FA-D5A7-2B934B1C9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20.Identify expired products still in stock</a:t>
            </a:r>
            <a:endParaRPr lang="en-IN" dirty="0">
              <a:latin typeface="Algerian" panose="04020705040A02060702" pitchFamily="82" charset="0"/>
            </a:endParaRP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503850C-5B2A-7B74-8B79-F2A45695B1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574" y="2193925"/>
            <a:ext cx="9822426" cy="4433017"/>
          </a:xfrm>
        </p:spPr>
      </p:pic>
    </p:spTree>
    <p:extLst>
      <p:ext uri="{BB962C8B-B14F-4D97-AF65-F5344CB8AC3E}">
        <p14:creationId xmlns:p14="http://schemas.microsoft.com/office/powerpoint/2010/main" val="27601984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BFC8A-449C-CF2A-FDFE-FA2413437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21. Average shelf life per brand</a:t>
            </a:r>
            <a:endParaRPr lang="en-IN" dirty="0">
              <a:latin typeface="Algerian" panose="04020705040A02060702" pitchFamily="82" charset="0"/>
            </a:endParaRP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9B836F4-D660-A32C-190F-8A3726B0C2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874786"/>
            <a:ext cx="8680514" cy="4761987"/>
          </a:xfrm>
        </p:spPr>
      </p:pic>
    </p:spTree>
    <p:extLst>
      <p:ext uri="{BB962C8B-B14F-4D97-AF65-F5344CB8AC3E}">
        <p14:creationId xmlns:p14="http://schemas.microsoft.com/office/powerpoint/2010/main" val="2396474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D8CE5-A4A9-0896-A3E2-ACB804050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22. Most popular product in each customer location</a:t>
            </a:r>
            <a:endParaRPr lang="en-IN" dirty="0">
              <a:latin typeface="Algerian" panose="04020705040A02060702" pitchFamily="82" charset="0"/>
            </a:endParaRP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E7C9541-59EC-92D0-0DE6-CD45755675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3331" y="2057401"/>
            <a:ext cx="7361942" cy="4552591"/>
          </a:xfrm>
        </p:spPr>
      </p:pic>
    </p:spTree>
    <p:extLst>
      <p:ext uri="{BB962C8B-B14F-4D97-AF65-F5344CB8AC3E}">
        <p14:creationId xmlns:p14="http://schemas.microsoft.com/office/powerpoint/2010/main" val="9757912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4414D-C1FF-DEA5-E4ED-D453E1EE7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0529" y="331754"/>
            <a:ext cx="8745794" cy="1103756"/>
          </a:xfrm>
        </p:spPr>
        <p:txBody>
          <a:bodyPr>
            <a:normAutofit fontScale="90000"/>
          </a:bodyPr>
          <a:lstStyle/>
          <a:p>
            <a:pPr algn="ctr"/>
            <a:br>
              <a:rPr lang="en-IN" b="1" u="sng" dirty="0"/>
            </a:br>
            <a:r>
              <a:rPr lang="en-IN" sz="4400" b="1" dirty="0"/>
              <a:t>🎯</a:t>
            </a:r>
            <a:r>
              <a:rPr lang="en-IN" sz="4400" u="sng" dirty="0">
                <a:latin typeface="Algerian" panose="04020705040A02060702" pitchFamily="82" charset="0"/>
              </a:rPr>
              <a:t> Analysis 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DA5142-BF45-E988-BCCD-B8A73E119EC8}"/>
              </a:ext>
            </a:extLst>
          </p:cNvPr>
          <p:cNvSpPr txBox="1"/>
          <p:nvPr/>
        </p:nvSpPr>
        <p:spPr>
          <a:xfrm>
            <a:off x="1172496" y="2062246"/>
            <a:ext cx="8932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9DF98B8-A976-4178-7925-8F6C805D39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090" y="1504811"/>
            <a:ext cx="11090787" cy="618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product with the highest revenue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Curd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brand with the highest revenue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Amul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highest revenue was generated 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January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3"/>
            </a:pPr>
            <a:r>
              <a:rPr lang="en-US" altLang="en-US" dirty="0">
                <a:latin typeface="Arial" panose="020B0604020202020204" pitchFamily="34" charset="0"/>
              </a:rPr>
              <a:t>The yearly revenue analysis from 2019 to 2022 shows that </a:t>
            </a:r>
            <a:r>
              <a:rPr lang="en-US" altLang="en-US" b="1" dirty="0">
                <a:latin typeface="Arial" panose="020B0604020202020204" pitchFamily="34" charset="0"/>
              </a:rPr>
              <a:t>2019 </a:t>
            </a:r>
            <a:r>
              <a:rPr lang="en-US" altLang="en-US" dirty="0">
                <a:latin typeface="Arial" panose="020B0604020202020204" pitchFamily="34" charset="0"/>
              </a:rPr>
              <a:t>recorded the highest revenue.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sales channel that generated the most revenue is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Retail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location with the highest total land area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Delhi,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a total land area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267,502.01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7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top 3 locations by average quantity sold are: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Tamil Nadu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Madhya Pradesh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Telangana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8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Top 5 products with the highest profit are: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Ice Cream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Butter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Milk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Lassi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Buttermilk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9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most profitable brand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Warana.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78967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A351F-FC32-BE4C-E4FC-9F41B3DEC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2133599"/>
            <a:ext cx="6705600" cy="2349910"/>
          </a:xfrm>
          <a:ln w="57150">
            <a:solidFill>
              <a:schemeClr val="accent4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br>
              <a:rPr lang="en-IN" sz="6000" dirty="0">
                <a:latin typeface="Algerian" panose="04020705040A02060702" pitchFamily="82" charset="0"/>
              </a:rPr>
            </a:br>
            <a:r>
              <a:rPr lang="en-IN" b="1" dirty="0"/>
              <a:t>⭐</a:t>
            </a:r>
            <a:br>
              <a:rPr lang="en-IN" b="1" dirty="0"/>
            </a:br>
            <a:r>
              <a:rPr lang="en-IN" sz="6000" dirty="0">
                <a:latin typeface="Algerian" panose="04020705040A02060702" pitchFamily="82" charset="0"/>
              </a:rPr>
              <a:t>  THANKU</a:t>
            </a:r>
          </a:p>
        </p:txBody>
      </p:sp>
    </p:spTree>
    <p:extLst>
      <p:ext uri="{BB962C8B-B14F-4D97-AF65-F5344CB8AC3E}">
        <p14:creationId xmlns:p14="http://schemas.microsoft.com/office/powerpoint/2010/main" val="3944170167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178</TotalTime>
  <Words>456</Words>
  <Application>Microsoft Office PowerPoint</Application>
  <PresentationFormat>Widescreen</PresentationFormat>
  <Paragraphs>72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7" baseType="lpstr">
      <vt:lpstr>Algerian</vt:lpstr>
      <vt:lpstr>Arial</vt:lpstr>
      <vt:lpstr>Arial Black</vt:lpstr>
      <vt:lpstr>Arial Rounded MT Bold</vt:lpstr>
      <vt:lpstr>Bahnschrift</vt:lpstr>
      <vt:lpstr>Bauhaus 93</vt:lpstr>
      <vt:lpstr>Century Gothic</vt:lpstr>
      <vt:lpstr>Wingdings</vt:lpstr>
      <vt:lpstr>Vapor Trail</vt:lpstr>
      <vt:lpstr>          🐄 DAIRY FaRM PROJECT</vt:lpstr>
      <vt:lpstr>📌 Project Overview </vt:lpstr>
      <vt:lpstr>1 Total revenue generated by each product</vt:lpstr>
      <vt:lpstr>2 Brand with the highest total revenue</vt:lpstr>
      <vt:lpstr>3  Monthly revenue trend across all product</vt:lpstr>
      <vt:lpstr>4 Products below the min stock threshold</vt:lpstr>
      <vt:lpstr>5 Total reorder qty required per product</vt:lpstr>
      <vt:lpstr>6. Which sales channel generated the most revenue</vt:lpstr>
      <vt:lpstr>7. Top 5 customers location by purchases vol</vt:lpstr>
      <vt:lpstr>8. Avg selling price per product</vt:lpstr>
      <vt:lpstr>9. Compare selling price with listed price</vt:lpstr>
      <vt:lpstr>10. Products with less than 10 days shelf life remaining</vt:lpstr>
      <vt:lpstr>11. Avg shelf life by product category</vt:lpstr>
      <vt:lpstr>12. Avg no. of cows per farm size category</vt:lpstr>
      <vt:lpstr>13. Location with the largest total land area</vt:lpstr>
      <vt:lpstr>14. Top 3 location by average production qty</vt:lpstr>
      <vt:lpstr>15. Calculate profit for each product</vt:lpstr>
      <vt:lpstr>16. Most profitable brand overall</vt:lpstr>
      <vt:lpstr>PROFITABILITY BRAND</vt:lpstr>
      <vt:lpstr>17. Yearly revenue growth</vt:lpstr>
      <vt:lpstr>18. Best selling product each yr</vt:lpstr>
      <vt:lpstr>18. Best selling product each yr</vt:lpstr>
      <vt:lpstr>19. Products that need immediate restock</vt:lpstr>
      <vt:lpstr>20.Identify expired products still in stock</vt:lpstr>
      <vt:lpstr>21. Average shelf life per brand</vt:lpstr>
      <vt:lpstr>22. Most popular product in each customer location</vt:lpstr>
      <vt:lpstr> 🎯 Analysis   </vt:lpstr>
      <vt:lpstr> ⭐   THANKU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Kritika Aggarwal</dc:creator>
  <cp:lastModifiedBy>Kritika Aggarwal</cp:lastModifiedBy>
  <cp:revision>1</cp:revision>
  <dcterms:created xsi:type="dcterms:W3CDTF">2025-08-16T07:43:06Z</dcterms:created>
  <dcterms:modified xsi:type="dcterms:W3CDTF">2026-05-27T15:46:29Z</dcterms:modified>
</cp:coreProperties>
</file>